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-1097280"/>
            <a:ext cx="5029200" cy="5029200"/>
          </a:xfrm>
          <a:prstGeom prst="ellipse">
            <a:avLst/>
          </a:prstGeom>
          <a:solidFill>
            <a:srgbClr val="163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2926080"/>
            <a:ext cx="3474720" cy="3474720"/>
          </a:xfrm>
          <a:prstGeom prst="ellipse">
            <a:avLst/>
          </a:prstGeom>
          <a:solidFill>
            <a:srgbClr val="184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2011680" cy="3840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8132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0E"/>
                </a:solidFill>
              </a:rPr>
              <a:t>🌱  SMART WASTE 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116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EcoSync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00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86EFAC"/>
                </a:solidFill>
              </a:rPr>
              <a:t>AI-Powered Smart Waste Management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404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1D5DB"/>
                </a:solidFill>
              </a:rPr>
              <a:t>Scan • Sort • Save the Planet  |  Powered by Google Gemini AI + React + MongoDB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343400"/>
            <a:ext cx="36576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46634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2C55E"/>
                </a:solidFill>
              </a:rPr>
              <a:t>95%+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1663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AI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46634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2C55E"/>
                </a:solidFill>
              </a:rPr>
              <a:t>125K+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51663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Downloads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46634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2C55E"/>
                </a:solidFill>
              </a:rPr>
              <a:t>30+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51663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Waste Types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4552" y="649224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1D5DB"/>
                </a:solidFill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64592"/>
            <a:ext cx="1371600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" y="164592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0E"/>
                </a:solidFill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669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84124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EFAC"/>
                </a:solidFill>
              </a:rPr>
              <a:t>Why waste management needs a smarter solution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417320"/>
            <a:ext cx="2743200" cy="269748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417320"/>
            <a:ext cx="27432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49047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🗑️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8745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6EFAC"/>
                </a:solidFill>
              </a:rPr>
              <a:t>Waste Misclassification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" y="2258568"/>
            <a:ext cx="24140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• 91% of plastic is never recycled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" y="2551176"/>
            <a:ext cx="24140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• People don't know which bin to 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" y="2843784"/>
            <a:ext cx="24140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• No real-time guidance at point of disposal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1417320"/>
            <a:ext cx="2743200" cy="269748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46120" y="1417320"/>
            <a:ext cx="27432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149047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18745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6EFAC"/>
                </a:solidFill>
              </a:rPr>
              <a:t>No Bin Visibility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0712" y="2258568"/>
            <a:ext cx="24140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• Citizens can't locate nearby recycling bins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10712" y="2551176"/>
            <a:ext cx="24140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• Bins overflow without timely alerts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0712" y="2843784"/>
            <a:ext cx="24140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• No real-time fill-level monitoring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417320"/>
            <a:ext cx="2743200" cy="269748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1417320"/>
            <a:ext cx="27432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49047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8745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6EFAC"/>
                </a:solidFill>
              </a:rPr>
              <a:t>Zero Engagement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2" y="2258568"/>
            <a:ext cx="24140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• No incentive to recycle consistently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2" y="2551176"/>
            <a:ext cx="24140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• Community impact is invisible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2843784"/>
            <a:ext cx="24140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• Illegal dumping goes unreported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81160" y="1417320"/>
            <a:ext cx="2743200" cy="269748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81160" y="1417320"/>
            <a:ext cx="27432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0" y="149047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18745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6EFAC"/>
                </a:solidFill>
              </a:rPr>
              <a:t>Data Blindspot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45752" y="2258568"/>
            <a:ext cx="24140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• Cities lack granular recycling analytics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45752" y="2551176"/>
            <a:ext cx="24140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• No tracking of individual carbon impact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45752" y="2843784"/>
            <a:ext cx="24140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• Sustainability goals remain unmet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6080760"/>
            <a:ext cx="11731752" cy="54864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610819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BBF24"/>
                </a:solidFill>
              </a:rPr>
              <a:t>"Only 9% of all plastic ever produced has been recycled — the world needs smarter tools."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74552" y="649224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1D5DB"/>
                </a:solidFill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64592"/>
            <a:ext cx="1371600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" y="164592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0E"/>
                </a:solidFill>
              </a:rPr>
              <a:t>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669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EcoSync — Our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84124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EFAC"/>
                </a:solidFill>
              </a:rPr>
              <a:t>One app to scan, sort, locate, reward &amp; connect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417320"/>
            <a:ext cx="5303520" cy="516636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417320"/>
            <a:ext cx="530352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3619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6EFAC"/>
                </a:solidFill>
              </a:rPr>
              <a:t>What is EcoSync?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93392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</a:rPr>
              <a:t>EcoSync is a full-stack web application that combines AI computer vision, interactive maps, a gamified rewards engine, and community tools to make recycling effortless, engaging, and measurable for every citizen.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42900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🤖 AI Classification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42900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Google Gemini Vision identifies 30+ waste types in seconds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90448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🗺️ Smart Bin Locator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90448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Leaflet.js map shows real-time nearby recycling bins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37997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🎁 Green 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379976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Earn &amp; redeem GP for eco-friendly products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85546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📊 Impact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4855464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Personal CO₂ savings and recycling trends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33095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👥 Community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533095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Challenges, leaderboards &amp; illegal dump reporting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2160" y="1463040"/>
            <a:ext cx="2743200" cy="182880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52160" y="1463040"/>
            <a:ext cx="27432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89320" y="171907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230428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Scan Waste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69680" y="1463040"/>
            <a:ext cx="2743200" cy="182880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69680" y="1463040"/>
            <a:ext cx="27432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6840" y="171907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🗺️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230428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Find Bins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52160" y="3520440"/>
            <a:ext cx="2743200" cy="182880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852160" y="3520440"/>
            <a:ext cx="27432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89320" y="377647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436168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Rewards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69680" y="3520440"/>
            <a:ext cx="2743200" cy="182880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69680" y="3520440"/>
            <a:ext cx="27432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06840" y="377647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40" y="436168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Analytics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52160" y="5577840"/>
            <a:ext cx="2743200" cy="182880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52160" y="5577840"/>
            <a:ext cx="27432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89320" y="583387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9320" y="641908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Report Dump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52160" y="5367528"/>
            <a:ext cx="6035040" cy="91440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852160" y="5367528"/>
            <a:ext cx="603504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89320" y="562356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🚨  Illegal Dump Reporting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74552" y="649224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1D5DB"/>
                </a:solidFill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64592"/>
            <a:ext cx="1371600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" y="164592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0E"/>
                </a:solidFill>
              </a:rPr>
              <a:t>FEATURE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669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AI Waste Scanner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84124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EFAC"/>
                </a:solidFill>
              </a:rPr>
              <a:t>Powered by Google Gemini 1.5 Flash Vision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417320"/>
            <a:ext cx="5669280" cy="516636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417320"/>
            <a:ext cx="566928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3619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6EFAC"/>
                </a:solidFill>
              </a:rPr>
              <a:t>How It Works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48256"/>
            <a:ext cx="347472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04825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0E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029968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Point camera at any waste item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06624"/>
            <a:ext cx="347472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70662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0E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688336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Gemini Vision API analyses the image in real-time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64992"/>
            <a:ext cx="347472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36499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0E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346704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Returns: category, recyclability, bin colour, disposal instructions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023360"/>
            <a:ext cx="347472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0233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0E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0507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User earns Green Points (5–30 GP by category)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681728"/>
            <a:ext cx="347472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68172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0E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663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Results saved to user profile &amp; impact stats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463040"/>
            <a:ext cx="2560320" cy="100584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1463040"/>
            <a:ext cx="256032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7648" y="16002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🧴 Plastic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202996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15 GP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52560" y="1463040"/>
            <a:ext cx="2560320" cy="100584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52560" y="1463040"/>
            <a:ext cx="256032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62288" y="16002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📄 Paper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62288" y="202996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10 GP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2651760"/>
            <a:ext cx="2560320" cy="100584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2651760"/>
            <a:ext cx="256032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27648" y="27889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🫙 Glass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321868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20 GP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52560" y="2651760"/>
            <a:ext cx="2560320" cy="100584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052560" y="2651760"/>
            <a:ext cx="256032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62288" y="27889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🥫 Metal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62288" y="321868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25 GP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3840480"/>
            <a:ext cx="2560320" cy="100584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17920" y="3840480"/>
            <a:ext cx="256032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27648" y="39776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🌿 Organic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27648" y="440740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8 GP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52560" y="3840480"/>
            <a:ext cx="2560320" cy="100584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052560" y="3840480"/>
            <a:ext cx="256032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62288" y="39776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📱 E-Waste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62288" y="440740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</a:rPr>
              <a:t>30 GP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5029200"/>
            <a:ext cx="2560320" cy="100584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17920" y="5029200"/>
            <a:ext cx="256032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27648" y="51663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⚠️ Hazardous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27648" y="559612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20 GP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52560" y="5029200"/>
            <a:ext cx="2560320" cy="100584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052560" y="5029200"/>
            <a:ext cx="256032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62288" y="51663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👕 Textile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62288" y="559612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12 GP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17920" y="5577840"/>
            <a:ext cx="5669280" cy="59436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63640" y="5596128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6EFAC"/>
                </a:solidFill>
              </a:rPr>
              <a:t>✅  95%+ Classification Accuracy  •  Real-time  •  30+ Waste Categories Supported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274552" y="649224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1D5DB"/>
                </a:solidFill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64592"/>
            <a:ext cx="1371600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" y="164592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0E"/>
                </a:solidFill>
              </a:rPr>
              <a:t>FEATURE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669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Smart Bin Locator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84124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EFAC"/>
                </a:solidFill>
              </a:rPr>
              <a:t>Real-time interactive map powered by Leaflet.js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417320"/>
            <a:ext cx="6400800" cy="5166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417320"/>
            <a:ext cx="6400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417320"/>
            <a:ext cx="6400800" cy="18288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2286000"/>
            <a:ext cx="6400800" cy="18288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" y="3154680"/>
            <a:ext cx="6400800" cy="18288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4023360"/>
            <a:ext cx="6400800" cy="18288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4892040"/>
            <a:ext cx="6400800" cy="18288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" y="5760720"/>
            <a:ext cx="6400800" cy="18288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1417320"/>
            <a:ext cx="18288" cy="516636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28700" y="1417320"/>
            <a:ext cx="18288" cy="516636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28800" y="1417320"/>
            <a:ext cx="18288" cy="516636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28900" y="1417320"/>
            <a:ext cx="18288" cy="516636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29000" y="1417320"/>
            <a:ext cx="18288" cy="516636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29100" y="1417320"/>
            <a:ext cx="18288" cy="516636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0" y="1417320"/>
            <a:ext cx="18288" cy="516636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29300" y="1417320"/>
            <a:ext cx="18288" cy="516636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15544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📍 Interactive 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19202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1D5DB"/>
                </a:solidFill>
              </a:rPr>
              <a:t>(Leaflet.js + OpenStreetMap)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2788920"/>
            <a:ext cx="228600" cy="2286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27432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General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291840"/>
            <a:ext cx="228600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2461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Recycling ♻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794760"/>
            <a:ext cx="228600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7490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Organic 🌿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297680"/>
            <a:ext cx="228600" cy="228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42519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Hazardous 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800600"/>
            <a:ext cx="228600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47548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E-Waste 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03720" y="1463040"/>
            <a:ext cx="2331720" cy="233172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903720" y="1463040"/>
            <a:ext cx="233172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0" y="153619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192024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6EFAC"/>
                </a:solidFill>
              </a:rPr>
              <a:t>GPS Auto-Locate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68312" y="2304288"/>
            <a:ext cx="2002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• One-tap user location detection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68312" y="2596896"/>
            <a:ext cx="2002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• Works without sign-in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03720" y="3977640"/>
            <a:ext cx="2331720" cy="233172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903720" y="3977640"/>
            <a:ext cx="233172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40880" y="405079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0" y="443484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6EFAC"/>
                </a:solidFill>
              </a:rPr>
              <a:t>Filter by Type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68312" y="4818888"/>
            <a:ext cx="2002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• Filter: General, Recycling, Organic, Hazardous, E-Waste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68312" y="5111496"/>
            <a:ext cx="2002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• Distance and fill-level shown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72600" y="1463040"/>
            <a:ext cx="2331720" cy="233172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372600" y="1463040"/>
            <a:ext cx="233172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09760" y="153619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09760" y="192024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6EFAC"/>
                </a:solidFill>
              </a:rPr>
              <a:t>Fill-Level Monitor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37192" y="2304288"/>
            <a:ext cx="2002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• Live fill-level % per bin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37192" y="2596896"/>
            <a:ext cx="2002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• Alerts for near-full bins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72600" y="3977640"/>
            <a:ext cx="2331720" cy="233172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372600" y="3977640"/>
            <a:ext cx="233172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09760" y="405079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🗺️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09760" y="443484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6EFAC"/>
                </a:solidFill>
              </a:rPr>
              <a:t>Multiple Bin Types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37192" y="4818888"/>
            <a:ext cx="2002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• 5 distinct categories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37192" y="5111496"/>
            <a:ext cx="2002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• Address + last-updated timestamp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274552" y="649224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1D5DB"/>
                </a:solidFill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64592"/>
            <a:ext cx="1371600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" y="164592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0E"/>
                </a:solidFill>
              </a:rPr>
              <a:t>FEATURE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669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Recycling Rewards &amp; Gamification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84124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EFAC"/>
                </a:solidFill>
              </a:rPr>
              <a:t>Earn Green Points — Redeem Eco Products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417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6EFAC"/>
                </a:solidFill>
              </a:rPr>
              <a:t>USER TIERS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783080"/>
            <a:ext cx="2057400" cy="123444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783080"/>
            <a:ext cx="2057400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18470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874519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</a:rPr>
              <a:t>Seedling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26771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</a:rPr>
              <a:t>0 GP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0" y="1783080"/>
            <a:ext cx="2057400" cy="123444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68880" y="1783080"/>
            <a:ext cx="20574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78608" y="18470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1874519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Sapling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226771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</a:rPr>
              <a:t>500 GP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1783080"/>
            <a:ext cx="2057400" cy="123444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09160" y="1783080"/>
            <a:ext cx="20574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18888" y="18470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1874519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Tree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226771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</a:rPr>
              <a:t>1,500 GP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1783080"/>
            <a:ext cx="2057400" cy="123444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49440" y="1783080"/>
            <a:ext cx="20574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59168" y="18470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1874519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</a:rPr>
              <a:t>Forest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226771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</a:rPr>
              <a:t>5,000 GP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89720" y="1783080"/>
            <a:ext cx="2057400" cy="123444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89720" y="1783080"/>
            <a:ext cx="20574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99448" y="18470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1874519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Eco Hero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226771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</a:rPr>
              <a:t>10,000 GP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32186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6EFAC"/>
                </a:solidFill>
              </a:rPr>
              <a:t>REDEEMABLE PRODUCTS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3584448"/>
            <a:ext cx="2651760" cy="118872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8600" y="3584448"/>
            <a:ext cx="265176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8328" y="369417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" y="37307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Bamboo Straw Set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" y="413308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150 GP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63240" y="3584448"/>
            <a:ext cx="2651760" cy="118872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063240" y="3584448"/>
            <a:ext cx="265176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72968" y="369417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21608" y="37307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Organic Tote Bag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21608" y="413308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200 GP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97880" y="3584448"/>
            <a:ext cx="2651760" cy="118872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897880" y="3584448"/>
            <a:ext cx="265176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07608" y="369417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🍯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56248" y="37307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Beeswax Food Wraps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56248" y="413308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300 GP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32520" y="3584448"/>
            <a:ext cx="2651760" cy="118872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732520" y="3584448"/>
            <a:ext cx="265176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42248" y="369417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90888" y="37307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Recycled Notebook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90888" y="413308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120 GP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" y="4910328"/>
            <a:ext cx="2651760" cy="118872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28600" y="4910328"/>
            <a:ext cx="265176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38328" y="502005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🌱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6968" y="50566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Seed Bomb Kit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6968" y="545896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180 GP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63240" y="4910328"/>
            <a:ext cx="2651760" cy="118872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063240" y="4910328"/>
            <a:ext cx="265176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172968" y="502005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🪥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721608" y="50566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Bamboo Toothbrush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721608" y="545896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250 GP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897880" y="4910328"/>
            <a:ext cx="2651760" cy="118872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97880" y="4910328"/>
            <a:ext cx="265176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007608" y="502005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☀️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56248" y="50566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Solar Power Bank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56248" y="545896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800 GP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732520" y="4910328"/>
            <a:ext cx="2651760" cy="118872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732520" y="4910328"/>
            <a:ext cx="265176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842248" y="502005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🌳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90888" y="50566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Plant a Real Tree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390888" y="545896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500 GP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06840" y="1417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6EFAC"/>
                </a:solidFill>
              </a:rPr>
              <a:t>HOW TO EARN GP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006840" y="1783080"/>
            <a:ext cx="2468880" cy="86868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006840" y="1783080"/>
            <a:ext cx="246888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144000" y="187452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♻️ Scan &amp; Recycle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144000" y="225856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</a:rPr>
              <a:t>5–30 GP per item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006840" y="2807208"/>
            <a:ext cx="2468880" cy="86868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006840" y="2807208"/>
            <a:ext cx="246888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144000" y="289864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🏆 Complete Challenge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144000" y="328269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</a:rPr>
              <a:t>100–500 GP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006840" y="3831336"/>
            <a:ext cx="2468880" cy="86868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006840" y="3831336"/>
            <a:ext cx="246888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144000" y="392277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🚨 Report Illegal Dump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144000" y="430682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</a:rPr>
              <a:t>50 GP verified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006840" y="4855464"/>
            <a:ext cx="2468880" cy="86868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06840" y="4855464"/>
            <a:ext cx="246888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144000" y="494690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🔥 Daily Streak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144000" y="533095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</a:rPr>
              <a:t>Bonus multiplier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274552" y="649224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1D5DB"/>
                </a:solidFill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64592"/>
            <a:ext cx="1371600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" y="164592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0E"/>
                </a:solidFill>
              </a:rPr>
              <a:t>FEATURE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669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Community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84124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EFAC"/>
                </a:solidFill>
              </a:rPr>
              <a:t>Challenges, Leaderboards &amp; Illegal Dump 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4173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6EFAC"/>
                </a:solidFill>
              </a:rPr>
              <a:t>COMMUNITY CHALLENGES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874519"/>
            <a:ext cx="5669280" cy="100584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874519"/>
            <a:ext cx="566928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039111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🚫♻️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1965959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Plastic-Free Week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404871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BF24"/>
                </a:solidFill>
              </a:rPr>
              <a:t>Medium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404871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</a:rPr>
              <a:t>👥 1,240 participants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404871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BBF24"/>
                </a:solidFill>
              </a:rPr>
              <a:t>🎁 300 GP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2404871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</a:rPr>
              <a:t>⏱ 3 days left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2990087"/>
            <a:ext cx="5669280" cy="100584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2990087"/>
            <a:ext cx="566928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3154679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🏘️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081527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Green Neighbourhood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3520439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</a:rPr>
              <a:t>Hard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3520439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</a:rPr>
              <a:t>👥 580 participants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3520439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BBF24"/>
                </a:solidFill>
              </a:rPr>
              <a:t>🎁 500 GP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3520439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</a:rPr>
              <a:t>⏱ 7 days left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4105655"/>
            <a:ext cx="5669280" cy="100584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4105655"/>
            <a:ext cx="566928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4270247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4197095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Zero-Waste Monday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4636007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</a:rPr>
              <a:t>Easy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4636007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</a:rPr>
              <a:t>👥 3,200 participants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4636007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BBF24"/>
                </a:solidFill>
              </a:rPr>
              <a:t>🎁 150 GP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83480" y="4636007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</a:rPr>
              <a:t>⏱ 1 day left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5221223"/>
            <a:ext cx="5669280" cy="100584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221223"/>
            <a:ext cx="566928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5385815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" y="5312663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E-Waste Hero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" y="5751575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BF24"/>
                </a:solidFill>
              </a:rPr>
              <a:t>Medium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11680" y="5751575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</a:rPr>
              <a:t>👥 420 participants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0" y="5751575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BBF24"/>
                </a:solidFill>
              </a:rPr>
              <a:t>🎁 400 GP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83480" y="5751575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</a:rPr>
              <a:t>⏱ 14 days left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14173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</a:rPr>
              <a:t>ILLEGAL DUMP REPORTING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1874519"/>
            <a:ext cx="5669280" cy="100584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72200" y="1874519"/>
            <a:ext cx="566928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63640" y="2039111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39712" y="1965959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Plastic heap — Yamuna Ghat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39712" y="2404871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</a:rPr>
              <a:t>Severity: High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2404871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BF24"/>
                </a:solidFill>
              </a:rPr>
              <a:t>Reviewing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07040" y="2404871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BF24"/>
                </a:solidFill>
              </a:rPr>
              <a:t>50 GP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72200" y="2990087"/>
            <a:ext cx="5669280" cy="100584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72200" y="2990087"/>
            <a:ext cx="566928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63640" y="3154679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39712" y="3081527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Construction debris — MG Road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39712" y="3520439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</a:rPr>
              <a:t>Severity: Medium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0" y="3520439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</a:rPr>
              <a:t>Resolved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07040" y="3520439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BF24"/>
                </a:solidFill>
              </a:rPr>
              <a:t>50 GP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72200" y="4105655"/>
            <a:ext cx="5669280" cy="100584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172200" y="4105655"/>
            <a:ext cx="566928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63640" y="4270247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☣️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39712" y="4197095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Chemical drums — Central Park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39712" y="4636007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</a:rPr>
              <a:t>Severity: High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12480" y="4636007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BF24"/>
                </a:solidFill>
              </a:rPr>
              <a:t>Reviewing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607040" y="4636007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BF24"/>
                </a:solidFill>
              </a:rPr>
              <a:t>50 GP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72200" y="5221223"/>
            <a:ext cx="5669280" cy="100584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72200" y="5221223"/>
            <a:ext cx="566928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63640" y="5385815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💻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39712" y="5312663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E-waste pile — Lajpat Nagar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39712" y="5751575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</a:rPr>
              <a:t>Severity: Medium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412480" y="5751575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1D5DB"/>
                </a:solidFill>
              </a:rPr>
              <a:t>Pending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07040" y="5751575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BF24"/>
                </a:solidFill>
              </a:rPr>
              <a:t>50 GP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28600" y="6053328"/>
            <a:ext cx="11731752" cy="566928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BBF24"/>
                </a:solidFill>
              </a:rPr>
              <a:t>🏆  Global Leaderboard  •  Real-Time Community Feed  •  50 GP per Verified Dump Report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274552" y="649224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1D5DB"/>
                </a:solidFill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64592"/>
            <a:ext cx="1371600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" y="164592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0E"/>
                </a:solidFill>
              </a:rPr>
              <a:t>FEATURE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669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Impact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84124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EFAC"/>
                </a:solidFill>
              </a:rPr>
              <a:t>Personal &amp; global environmental analytics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417320"/>
            <a:ext cx="2240280" cy="1298448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417320"/>
            <a:ext cx="224028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" y="1581912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2C55E"/>
                </a:solidFill>
              </a:rPr>
              <a:t>47.3 kg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2167128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1D5DB"/>
                </a:solidFill>
              </a:rPr>
              <a:t>CO₂ Saved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1417320"/>
            <a:ext cx="2240280" cy="1298448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6040" y="1417320"/>
            <a:ext cx="224028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6040" y="1581912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8BDF8"/>
                </a:solidFill>
              </a:rPr>
              <a:t>134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167128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1D5DB"/>
                </a:solidFill>
              </a:rPr>
              <a:t>Items Recycled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1417320"/>
            <a:ext cx="2240280" cy="1298448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83480" y="1417320"/>
            <a:ext cx="224028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83480" y="1581912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BBF24"/>
                </a:solidFill>
              </a:rPr>
              <a:t>2,840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2167128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1D5DB"/>
                </a:solidFill>
              </a:rPr>
              <a:t>Green Points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60920" y="1417320"/>
            <a:ext cx="2240280" cy="1298448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60920" y="1417320"/>
            <a:ext cx="2240280" cy="36576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20" y="1581912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86EFAC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167128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1D5DB"/>
                </a:solidFill>
              </a:rPr>
              <a:t>Trees Planted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38360" y="1417320"/>
            <a:ext cx="2240280" cy="1298448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38360" y="1417320"/>
            <a:ext cx="2240280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38360" y="1581912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A78BFA"/>
                </a:solidFill>
              </a:rPr>
              <a:t>28 days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2167128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1D5DB"/>
                </a:solidFill>
              </a:rPr>
              <a:t>Longest Streak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29077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6EFAC"/>
                </a:solidFill>
              </a:rPr>
              <a:t>WASTE BREAKDOWN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3474720"/>
            <a:ext cx="4572000" cy="201168"/>
          </a:xfrm>
          <a:prstGeom prst="rect">
            <a:avLst/>
          </a:prstGeom>
          <a:solidFill>
            <a:srgbClr val="253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474720"/>
            <a:ext cx="1737360" cy="20116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92040" y="340156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Plastic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3401568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38%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4041648"/>
            <a:ext cx="4572000" cy="201168"/>
          </a:xfrm>
          <a:prstGeom prst="rect">
            <a:avLst/>
          </a:prstGeom>
          <a:solidFill>
            <a:srgbClr val="253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4041648"/>
            <a:ext cx="1234440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92040" y="396849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Paper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3968496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C55E"/>
                </a:solidFill>
              </a:rPr>
              <a:t>27%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4608576"/>
            <a:ext cx="4572000" cy="201168"/>
          </a:xfrm>
          <a:prstGeom prst="rect">
            <a:avLst/>
          </a:prstGeom>
          <a:solidFill>
            <a:srgbClr val="253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28600" y="4608576"/>
            <a:ext cx="822960" cy="20116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92040" y="453542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Glass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4535424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18%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5175504"/>
            <a:ext cx="4572000" cy="201168"/>
          </a:xfrm>
          <a:prstGeom prst="rect">
            <a:avLst/>
          </a:prstGeom>
          <a:solidFill>
            <a:srgbClr val="253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28600" y="5175504"/>
            <a:ext cx="457200" cy="2011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92040" y="510235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Metal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5102352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10%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5742432"/>
            <a:ext cx="4572000" cy="201168"/>
          </a:xfrm>
          <a:prstGeom prst="rect">
            <a:avLst/>
          </a:prstGeom>
          <a:solidFill>
            <a:srgbClr val="253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28600" y="5742432"/>
            <a:ext cx="320040" cy="201168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92040" y="566928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Organic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0" y="5669280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6EFAC"/>
                </a:solidFill>
              </a:rPr>
              <a:t>7%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29077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6EFAC"/>
                </a:solidFill>
              </a:rPr>
              <a:t>MONTHLY RECYCLED (kg)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29400" y="4800600"/>
            <a:ext cx="594360" cy="914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29400" y="450799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6EFAC"/>
                </a:solidFill>
              </a:rPr>
              <a:t>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29400" y="576072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1D5DB"/>
                </a:solidFill>
              </a:rPr>
              <a:t>Sep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70648" y="4343400"/>
            <a:ext cx="59436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70648" y="405079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6EFAC"/>
                </a:solidFill>
              </a:rPr>
              <a:t>18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70648" y="576072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1D5DB"/>
                </a:solidFill>
              </a:rPr>
              <a:t>Oct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11896" y="4038600"/>
            <a:ext cx="594360" cy="1676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11896" y="374599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6EFAC"/>
                </a:solidFill>
              </a:rPr>
              <a:t>22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11896" y="576072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1D5DB"/>
                </a:solidFill>
              </a:rPr>
              <a:t>Nov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53144" y="4572000"/>
            <a:ext cx="594360" cy="1143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53144" y="427939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6EFAC"/>
                </a:solidFill>
              </a:rPr>
              <a:t>15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53144" y="576072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1D5DB"/>
                </a:solidFill>
              </a:rPr>
              <a:t>Dec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994392" y="3581400"/>
            <a:ext cx="594360" cy="2133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994392" y="328879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6EFAC"/>
                </a:solidFill>
              </a:rPr>
              <a:t>28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94392" y="576072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1D5DB"/>
                </a:solidFill>
              </a:rPr>
              <a:t>Jan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835640" y="3886200"/>
            <a:ext cx="594360" cy="1828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835640" y="359359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6EFAC"/>
                </a:solidFill>
              </a:rPr>
              <a:t>24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835640" y="576072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1D5DB"/>
                </a:solidFill>
              </a:rPr>
              <a:t>Feb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74320" y="60167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6EFAC"/>
                </a:solidFill>
              </a:rPr>
              <a:t>MILESTONES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28600" y="632764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C55E"/>
                </a:solidFill>
              </a:rPr>
              <a:t>✅ 📱 First Scan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48840" y="632764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C55E"/>
                </a:solidFill>
              </a:rPr>
              <a:t>✅ ♻️ 10 Items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069080" y="632764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C55E"/>
                </a:solidFill>
              </a:rPr>
              <a:t>✅ 🌿 5kg CO₂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989320" y="632764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C55E"/>
                </a:solidFill>
              </a:rPr>
              <a:t>✅ 🏅 50 Items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909560" y="632764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</a:rPr>
              <a:t>⬜ 🌳 Plant Tree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829800" y="632764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</a:rPr>
              <a:t>⬜ 🌍 100kg CO₂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274552" y="649224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1D5DB"/>
                </a:solidFill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64592"/>
            <a:ext cx="1371600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" y="164592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0E"/>
                </a:solidFill>
              </a:rPr>
              <a:t>TECH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669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84124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EFAC"/>
                </a:solidFill>
              </a:rPr>
              <a:t>Modern full-stack architecture designed for scale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417320"/>
            <a:ext cx="3749039" cy="516636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417320"/>
            <a:ext cx="3749039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48132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385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⚛️ React 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2860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</a:rPr>
              <a:t>Component-based SPA with hooks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68833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🎨 Tailwind CSS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0358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</a:rPr>
              <a:t>Utility-first dark-mode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43814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🎞️ Framer Motion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7856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</a:rPr>
              <a:t>Smooth animations &amp; transitions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18795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📊 Recharts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53542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</a:rPr>
              <a:t>Interactive charts &amp;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9377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🗺️ Leaflet.js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2852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</a:rPr>
              <a:t>OpenStreetMap bin locator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6875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⚡ Vite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0350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</a:rPr>
              <a:t>Ultra-fast build &amp; HMR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1417320"/>
            <a:ext cx="3749039" cy="516636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0520" y="1417320"/>
            <a:ext cx="3749039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148132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BACKEND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19385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🟢 Node.js + Express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22860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</a:rPr>
              <a:t>RESTful API server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268833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🍃 MongoDB Atlas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30358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</a:rPr>
              <a:t>Cloud NoSQL database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343814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🔵 Mongoose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37856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</a:rPr>
              <a:t>Schema modelling &amp; validation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418795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🤖 Google Gemini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453542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</a:rPr>
              <a:t>Vision API for waste scanning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49377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🔑 dotenv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52852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</a:rPr>
              <a:t>Secure env config management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56875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🌐 CORS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60350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</a:rPr>
              <a:t>Cross-origin resource handling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92440" y="1417320"/>
            <a:ext cx="3749039" cy="516636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92440" y="1417320"/>
            <a:ext cx="3749039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0" y="148132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LANGUAGE &amp; TOOLS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19385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📘 TypeScript 5.9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22860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</a:rPr>
              <a:t>Type-safe frontend codebase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268833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🪝 React Router 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30358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</a:rPr>
              <a:t>SPA client-side routing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343814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📦 npm workspaces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37856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</a:rPr>
              <a:t>Monorepo dependency management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418795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🖥️ start.bat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453542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</a:rPr>
              <a:t>One-click local dev launcher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49377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☁️ Vite SingleFile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52852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</a:rPr>
              <a:t>Bundle app as standalone HTML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6875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🔐 Auth helpers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60350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</a:rPr>
              <a:t>JWT-style localStorage auth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658600" y="1417320"/>
            <a:ext cx="228600" cy="516636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28600" y="6080760"/>
            <a:ext cx="11731752" cy="384048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609904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1D5DB"/>
                </a:solidFill>
              </a:rPr>
              <a:t>API: GET /health  •  POST /classify  •  GET+PUT /user/:id/notifications  •  POST /support/contact  •  GET /support/faqs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274552" y="649224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1D5DB"/>
                </a:solidFill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64592"/>
            <a:ext cx="1371600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" y="164592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0E"/>
                </a:solidFill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669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84124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EFAC"/>
                </a:solidFill>
              </a:rPr>
              <a:t>End-to-end data flow from camera to database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743200"/>
            <a:ext cx="1691640" cy="1097280"/>
          </a:xfrm>
          <a:prstGeom prst="rect">
            <a:avLst/>
          </a:prstGeom>
          <a:solidFill>
            <a:srgbClr val="0F170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999232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📱 User
(Browser)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4560" y="2743200"/>
            <a:ext cx="1691640" cy="1097280"/>
          </a:xfrm>
          <a:prstGeom prst="rect">
            <a:avLst/>
          </a:prstGeom>
          <a:solidFill>
            <a:srgbClr val="1A2E1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2999232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8BDF8"/>
                </a:solidFill>
              </a:rPr>
              <a:t>⚛️ React
Frontend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2194560"/>
            <a:ext cx="1691640" cy="1097280"/>
          </a:xfrm>
          <a:prstGeom prst="rect">
            <a:avLst/>
          </a:prstGeom>
          <a:solidFill>
            <a:srgbClr val="1A2E1A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450592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2C55E"/>
                </a:solidFill>
              </a:rPr>
              <a:t>🤖 Gemini
Vision 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3291840"/>
            <a:ext cx="1691640" cy="1097280"/>
          </a:xfrm>
          <a:prstGeom prst="rect">
            <a:avLst/>
          </a:prstGeom>
          <a:solidFill>
            <a:srgbClr val="1A2E1A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3547872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2C55E"/>
                </a:solidFill>
              </a:rPr>
              <a:t>🟢 Express
API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2194560"/>
            <a:ext cx="1691640" cy="1097280"/>
          </a:xfrm>
          <a:prstGeom prst="rect">
            <a:avLst/>
          </a:prstGeom>
          <a:solidFill>
            <a:srgbClr val="1A2E1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2450592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</a:rPr>
              <a:t>📊 AI
Results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3291840"/>
            <a:ext cx="1691640" cy="1097280"/>
          </a:xfrm>
          <a:prstGeom prst="rect">
            <a:avLst/>
          </a:prstGeom>
          <a:solidFill>
            <a:srgbClr val="1A2E1A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3547872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BBF24"/>
                </a:solidFill>
              </a:rPr>
              <a:t>🍃 MongoDB
Atlas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41280" y="2743200"/>
            <a:ext cx="1691640" cy="1097280"/>
          </a:xfrm>
          <a:prstGeom prst="rect">
            <a:avLst/>
          </a:prstGeom>
          <a:solidFill>
            <a:srgbClr val="1A2E1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0" y="2999232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👤 Profile
Dashboard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65960" y="3291840"/>
            <a:ext cx="228600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121408" y="3236976"/>
            <a:ext cx="73152" cy="128016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86200" y="2788920"/>
            <a:ext cx="868680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81728" y="2734056"/>
            <a:ext cx="73152" cy="128016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86200" y="3657600"/>
            <a:ext cx="868680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81728" y="3602736"/>
            <a:ext cx="73152" cy="128016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46520" y="2743200"/>
            <a:ext cx="1143000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516368" y="2688336"/>
            <a:ext cx="73152" cy="128016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46520" y="3840480"/>
            <a:ext cx="1143000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16368" y="3785616"/>
            <a:ext cx="73152" cy="128016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281160" y="3291840"/>
            <a:ext cx="960120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68128" y="3236976"/>
            <a:ext cx="73152" cy="128016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4892040"/>
            <a:ext cx="11731752" cy="169164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28600" y="4892040"/>
            <a:ext cx="11731752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50292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1. User points camera at waste item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50292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2. React captures image → sends base64 to Express API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50292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3. Express forwards to Google Gemini Vision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553212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4. AI returns category, tips, bin colour, GP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0" y="553212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5. Results stored in MongoDB &amp; shown in Dashboard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74552" y="649224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1D5DB"/>
                </a:solidFill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64592"/>
            <a:ext cx="1371600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" y="164592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0E"/>
                </a:solidFill>
              </a:rPr>
              <a:t>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669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Real-World Impact &amp;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84124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EFAC"/>
                </a:solidFill>
              </a:rPr>
              <a:t>Measurable sustainability outcomes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417320"/>
            <a:ext cx="2788920" cy="141732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417320"/>
            <a:ext cx="278892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" y="1581912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2C55E"/>
                </a:solidFill>
              </a:rPr>
              <a:t>125,847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2167128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1D5DB"/>
                </a:solidFill>
              </a:rPr>
              <a:t>Total Downloads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417320"/>
            <a:ext cx="2788920" cy="141732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1417320"/>
            <a:ext cx="278892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1581912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8BDF8"/>
                </a:solidFill>
              </a:rPr>
              <a:t>95%+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167128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1D5DB"/>
                </a:solidFill>
              </a:rPr>
              <a:t>AI Classification Acc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417320"/>
            <a:ext cx="2788920" cy="141732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1417320"/>
            <a:ext cx="2788920" cy="36576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1581912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86EFAC"/>
                </a:solidFill>
              </a:rPr>
              <a:t>2.4M kg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167128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1D5DB"/>
                </a:solidFill>
              </a:rPr>
              <a:t>Global CO₂ Avoided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417320"/>
            <a:ext cx="2788920" cy="141732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417320"/>
            <a:ext cx="278892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1581912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BBF24"/>
                </a:solidFill>
              </a:rPr>
              <a:t>847K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167128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1D5DB"/>
                </a:solidFill>
              </a:rPr>
              <a:t>Items Classified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2999232"/>
            <a:ext cx="5669280" cy="169164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8600" y="2999232"/>
            <a:ext cx="566928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07238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345643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6EFAC"/>
                </a:solidFill>
              </a:rPr>
              <a:t>Recycling Rate Trend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" y="3840480"/>
            <a:ext cx="53400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• January: 45 items recycled / user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" y="4133088"/>
            <a:ext cx="53400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• June: 98 items recycled / user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" y="4425696"/>
            <a:ext cx="53400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• ↑ 118% improvement in 6 months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2999232"/>
            <a:ext cx="5669280" cy="169164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2200" y="2999232"/>
            <a:ext cx="5669280" cy="36576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307238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345643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6EFAC"/>
                </a:solidFill>
              </a:rPr>
              <a:t>Carbon Savings Growth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36792" y="3840480"/>
            <a:ext cx="53400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• Jan: 12 kg CO₂ saved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6792" y="4133088"/>
            <a:ext cx="53400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• June: 78 kg CO₂ saved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6792" y="4425696"/>
            <a:ext cx="53400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• ↑ 550% carbon footprint reduction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" y="4828032"/>
            <a:ext cx="5669280" cy="169164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28600" y="4828032"/>
            <a:ext cx="566928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490118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528523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6EFAC"/>
                </a:solidFill>
              </a:rPr>
              <a:t>Community Engagement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3192" y="5669280"/>
            <a:ext cx="53400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• 3,200 active challenge participants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3192" y="5961888"/>
            <a:ext cx="53400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• 50+ illegal dump sites reported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3192" y="6254496"/>
            <a:ext cx="53400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• Avg 28-day recycling streak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72200" y="4828032"/>
            <a:ext cx="5669280" cy="169164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72200" y="4828032"/>
            <a:ext cx="566928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0" y="490118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🌱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528523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6EFAC"/>
                </a:solidFill>
              </a:rPr>
              <a:t>Environmental Milestones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36792" y="5669280"/>
            <a:ext cx="53400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• 12,400 trees planted via GP redemptions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36792" y="5961888"/>
            <a:ext cx="53400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• Coverage: 15+ cities nationally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36792" y="6254496"/>
            <a:ext cx="53400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• Partner NGOs: 8 certified orgs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274552" y="649224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1D5DB"/>
                </a:solidFill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-457200"/>
            <a:ext cx="4114800" cy="4114800"/>
          </a:xfrm>
          <a:prstGeom prst="ellipse">
            <a:avLst/>
          </a:prstGeom>
          <a:solidFill>
            <a:srgbClr val="163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430000" y="3840480"/>
            <a:ext cx="2926080" cy="2926080"/>
          </a:xfrm>
          <a:prstGeom prst="ellipse">
            <a:avLst/>
          </a:prstGeom>
          <a:solidFill>
            <a:srgbClr val="184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029200"/>
            <a:ext cx="3200400" cy="3200400"/>
          </a:xfrm>
          <a:prstGeom prst="ellipse">
            <a:avLst/>
          </a:prstGeom>
          <a:solidFill>
            <a:srgbClr val="142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914400"/>
            <a:ext cx="2377440" cy="3840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9326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0E"/>
                </a:solidFill>
              </a:rPr>
              <a:t>🌱  THANK YOU  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4630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EcoSync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54203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86EFAC"/>
                </a:solidFill>
              </a:rPr>
              <a:t>Scan. Sort. Save the Planet.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54680"/>
            <a:ext cx="45720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3832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</a:rPr>
              <a:t>🤖   AI-powered waste classification (Gemini 1.5 Flash)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85876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</a:rPr>
              <a:t>🗺️   Real-time smart bin locator (Leaflet.js)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334256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</a:rPr>
              <a:t>🎁   Gamified recycling rewards (5 tiers, 8+ products)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80974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</a:rPr>
              <a:t>📊   Personal impact analytics &amp; CO₂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28523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</a:rPr>
              <a:t>👥   Community challenges + illegal dump reporting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7607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</a:rPr>
              <a:t>⚡   Full-stack: React 19 + Node.js + MongoDB Atlas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3200400"/>
            <a:ext cx="3429000" cy="54864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1080" y="3291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2" y="33101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ecosync.app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3886200"/>
            <a:ext cx="3429000" cy="54864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41080" y="39776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25712" y="39959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hello@ecosync.app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03920" y="4572000"/>
            <a:ext cx="3429000" cy="54864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41080" y="46634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5712" y="46817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React 19 • Node.js • MongoDB • Gemini AI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5257800"/>
            <a:ext cx="3429000" cy="54864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41080" y="53492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5712" y="53675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Smart Waste Management —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6EFAC"/>
                </a:solidFill>
              </a:rPr>
              <a:t>Together, we can build a cleaner, greener future. 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74552" y="649224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1D5DB"/>
                </a:solidFill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